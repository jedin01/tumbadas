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Layouts/slideLayout2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4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43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</p:sldMasterIdLst>
  <p:sldIdLst>
    <p:sldId id="256" r:id="rId50"/>
    <p:sldId id="257" r:id="rId51"/>
    <p:sldId id="258" r:id="rId52"/>
    <p:sldId id="259" r:id="rId53"/>
    <p:sldId id="260" r:id="rId54"/>
    <p:sldId id="261" r:id="rId55"/>
    <p:sldId id="262" r:id="rId56"/>
    <p:sldId id="263" r:id="rId57"/>
    <p:sldId id="264" r:id="rId58"/>
    <p:sldId id="265" r:id="rId59"/>
    <p:sldId id="266" r:id="rId60"/>
    <p:sldId id="267" r:id="rId61"/>
    <p:sldId id="268" r:id="rId62"/>
    <p:sldId id="269" r:id="rId63"/>
    <p:sldId id="270" r:id="rId64"/>
    <p:sldId id="271" r:id="rId65"/>
    <p:sldId id="272" r:id="rId66"/>
    <p:sldId id="273" r:id="rId67"/>
    <p:sldId id="274" r:id="rId68"/>
    <p:sldId id="275" r:id="rId69"/>
    <p:sldId id="276" r:id="rId70"/>
    <p:sldId id="277" r:id="rId71"/>
    <p:sldId id="278" r:id="rId72"/>
    <p:sldId id="279" r:id="rId73"/>
    <p:sldId id="280" r:id="rId74"/>
    <p:sldId id="281" r:id="rId75"/>
    <p:sldId id="282" r:id="rId76"/>
    <p:sldId id="283" r:id="rId77"/>
    <p:sldId id="284" r:id="rId78"/>
    <p:sldId id="285" r:id="rId79"/>
    <p:sldId id="286" r:id="rId80"/>
    <p:sldId id="287" r:id="rId81"/>
    <p:sldId id="288" r:id="rId82"/>
    <p:sldId id="289" r:id="rId83"/>
    <p:sldId id="290" r:id="rId84"/>
    <p:sldId id="291" r:id="rId85"/>
    <p:sldId id="292" r:id="rId86"/>
    <p:sldId id="293" r:id="rId87"/>
    <p:sldId id="294" r:id="rId88"/>
    <p:sldId id="295" r:id="rId89"/>
    <p:sldId id="296" r:id="rId90"/>
    <p:sldId id="297" r:id="rId91"/>
    <p:sldId id="298" r:id="rId9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slide" Target="slides/slide12.xml"/><Relationship Id="rId62" Type="http://schemas.openxmlformats.org/officeDocument/2006/relationships/slide" Target="slides/slide13.xml"/><Relationship Id="rId63" Type="http://schemas.openxmlformats.org/officeDocument/2006/relationships/slide" Target="slides/slide14.xml"/><Relationship Id="rId64" Type="http://schemas.openxmlformats.org/officeDocument/2006/relationships/slide" Target="slides/slide15.xml"/><Relationship Id="rId65" Type="http://schemas.openxmlformats.org/officeDocument/2006/relationships/slide" Target="slides/slide16.xml"/><Relationship Id="rId66" Type="http://schemas.openxmlformats.org/officeDocument/2006/relationships/slide" Target="slides/slide17.xml"/><Relationship Id="rId67" Type="http://schemas.openxmlformats.org/officeDocument/2006/relationships/slide" Target="slides/slide18.xml"/><Relationship Id="rId68" Type="http://schemas.openxmlformats.org/officeDocument/2006/relationships/slide" Target="slides/slide19.xml"/><Relationship Id="rId69" Type="http://schemas.openxmlformats.org/officeDocument/2006/relationships/slide" Target="slides/slide20.xml"/><Relationship Id="rId70" Type="http://schemas.openxmlformats.org/officeDocument/2006/relationships/slide" Target="slides/slide21.xml"/><Relationship Id="rId71" Type="http://schemas.openxmlformats.org/officeDocument/2006/relationships/slide" Target="slides/slide22.xml"/><Relationship Id="rId72" Type="http://schemas.openxmlformats.org/officeDocument/2006/relationships/slide" Target="slides/slide23.xml"/><Relationship Id="rId73" Type="http://schemas.openxmlformats.org/officeDocument/2006/relationships/slide" Target="slides/slide24.xml"/><Relationship Id="rId74" Type="http://schemas.openxmlformats.org/officeDocument/2006/relationships/slide" Target="slides/slide25.xml"/><Relationship Id="rId75" Type="http://schemas.openxmlformats.org/officeDocument/2006/relationships/slide" Target="slides/slide26.xml"/><Relationship Id="rId76" Type="http://schemas.openxmlformats.org/officeDocument/2006/relationships/slide" Target="slides/slide27.xml"/><Relationship Id="rId77" Type="http://schemas.openxmlformats.org/officeDocument/2006/relationships/slide" Target="slides/slide28.xml"/><Relationship Id="rId78" Type="http://schemas.openxmlformats.org/officeDocument/2006/relationships/slide" Target="slides/slide29.xml"/><Relationship Id="rId79" Type="http://schemas.openxmlformats.org/officeDocument/2006/relationships/slide" Target="slides/slide30.xml"/><Relationship Id="rId80" Type="http://schemas.openxmlformats.org/officeDocument/2006/relationships/slide" Target="slides/slide31.xml"/><Relationship Id="rId81" Type="http://schemas.openxmlformats.org/officeDocument/2006/relationships/slide" Target="slides/slide32.xml"/><Relationship Id="rId82" Type="http://schemas.openxmlformats.org/officeDocument/2006/relationships/slide" Target="slides/slide33.xml"/><Relationship Id="rId83" Type="http://schemas.openxmlformats.org/officeDocument/2006/relationships/slide" Target="slides/slide34.xml"/><Relationship Id="rId84" Type="http://schemas.openxmlformats.org/officeDocument/2006/relationships/slide" Target="slides/slide35.xml"/><Relationship Id="rId85" Type="http://schemas.openxmlformats.org/officeDocument/2006/relationships/slide" Target="slides/slide36.xml"/><Relationship Id="rId86" Type="http://schemas.openxmlformats.org/officeDocument/2006/relationships/slide" Target="slides/slide37.xml"/><Relationship Id="rId87" Type="http://schemas.openxmlformats.org/officeDocument/2006/relationships/slide" Target="slides/slide38.xml"/><Relationship Id="rId88" Type="http://schemas.openxmlformats.org/officeDocument/2006/relationships/slide" Target="slides/slide39.xml"/><Relationship Id="rId89" Type="http://schemas.openxmlformats.org/officeDocument/2006/relationships/slide" Target="slides/slide40.xml"/><Relationship Id="rId90" Type="http://schemas.openxmlformats.org/officeDocument/2006/relationships/slide" Target="slides/slide41.xml"/><Relationship Id="rId91" Type="http://schemas.openxmlformats.org/officeDocument/2006/relationships/slide" Target="slides/slide42.xml"/><Relationship Id="rId92" Type="http://schemas.openxmlformats.org/officeDocument/2006/relationships/slide" Target="slides/slide43.xml"/><Relationship Id="rId9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adr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adr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adrã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adrã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adrã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adrã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DC8D5F-DB55-48E2-920C-12479D3A6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adrã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54F77CF-B443-48CD-B37E-79E5C73700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adrã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1D09C0-2A32-4230-A865-D610CAC050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adrã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F8DFEF3-4136-4CD4-B6EF-6FC9540DD8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5F50249-D9B6-4C00-9209-0AC315FDB4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66FF83C-08C0-4B9E-A415-7753CDB15F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AB248C5-34EB-442A-B085-AC7D8C28CD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97A4343-04EE-4D78-9691-7ECA785F3A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430ADE8-1766-4890-AD7F-803696855F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E898A27-8A07-4351-931C-29489DF895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adrão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990D4A-83A3-45FA-A161-CCE669466F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adrão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3B78E07-0669-4333-A013-475CC82441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adrã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06BE6781-ED3A-46D5-93C8-EF2CE070429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adrão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DE79DF8-06AA-4FE1-93E5-B383ABCDAB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adrão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56C8E457-C11D-427B-9E37-EEB8C83998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adrão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E54AF75-A08A-4801-842C-27A5D296B6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E9987C4A-F54B-4461-8762-B0012F283F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763BCC3E-3B61-4A03-937F-916C7AABE1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53A726EC-AC0E-4981-8AB4-9331F0E690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adrão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B728F46-66C1-4EB8-B021-B8D754EE7A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adrão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1495F5A-734A-4E23-97C8-A50688B9B6E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FB89E2B3-0ADB-4F70-B286-9F5B75128E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adrão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8713910A-3B84-431E-A80F-F0C8B8CBC2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adrão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BF52667E-A6D3-47F9-B904-9622ACE311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ffffff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67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68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81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82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3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95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96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07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08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23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24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5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36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37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8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44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45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53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54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63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64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5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75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76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83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84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tângulo 7"/>
          <p:cNvSpPr/>
          <p:nvPr/>
        </p:nvSpPr>
        <p:spPr>
          <a:xfrm>
            <a:off x="0" y="244800"/>
            <a:ext cx="12191040" cy="738000"/>
          </a:xfrm>
          <a:prstGeom prst="rect">
            <a:avLst/>
          </a:prstGeom>
          <a:solidFill>
            <a:srgbClr val="1167a4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Elipse 10"/>
          <p:cNvSpPr/>
          <p:nvPr/>
        </p:nvSpPr>
        <p:spPr>
          <a:xfrm>
            <a:off x="5491080" y="9360"/>
            <a:ext cx="1208880" cy="120888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Imagem 9" descr=""/>
          <p:cNvPicPr/>
          <p:nvPr/>
        </p:nvPicPr>
        <p:blipFill>
          <a:blip r:embed="rId2"/>
          <a:srcRect l="2724" t="9094" r="5173" b="14832"/>
          <a:stretch/>
        </p:blipFill>
        <p:spPr>
          <a:xfrm>
            <a:off x="5553360" y="235440"/>
            <a:ext cx="1083960" cy="756720"/>
          </a:xfrm>
          <a:prstGeom prst="rect">
            <a:avLst/>
          </a:prstGeom>
          <a:ln w="0">
            <a:noFill/>
          </a:ln>
        </p:spPr>
      </p:pic>
      <p:grpSp>
        <p:nvGrpSpPr>
          <p:cNvPr id="189" name="Grupo 14"/>
          <p:cNvGrpSpPr/>
          <p:nvPr/>
        </p:nvGrpSpPr>
        <p:grpSpPr>
          <a:xfrm>
            <a:off x="0" y="6521040"/>
            <a:ext cx="12191040" cy="288000"/>
            <a:chOff x="0" y="6521040"/>
            <a:chExt cx="12191040" cy="288000"/>
          </a:xfrm>
        </p:grpSpPr>
        <p:sp>
          <p:nvSpPr>
            <p:cNvPr id="190" name="Retângulo 12"/>
            <p:cNvSpPr/>
            <p:nvPr/>
          </p:nvSpPr>
          <p:spPr>
            <a:xfrm>
              <a:off x="0" y="6526440"/>
              <a:ext cx="12191040" cy="280440"/>
            </a:xfrm>
            <a:prstGeom prst="rect">
              <a:avLst/>
            </a:prstGeom>
            <a:solidFill>
              <a:srgbClr val="1167a4"/>
            </a:solidFill>
            <a:ln>
              <a:solidFill>
                <a:srgbClr val="43729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CaixaDeTexto 13"/>
            <p:cNvSpPr/>
            <p:nvPr/>
          </p:nvSpPr>
          <p:spPr>
            <a:xfrm>
              <a:off x="0" y="6521040"/>
              <a:ext cx="1219104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pt-BR" sz="1300" spc="-1" strike="noStrike">
                  <a:solidFill>
                    <a:srgbClr val="ffffff"/>
                  </a:solidFill>
                  <a:latin typeface="Calibri"/>
                  <a:ea typeface="DejaVu Sans"/>
                </a:rPr>
                <a:t>Instituto de Telecomunicações | Bairro dos CTTs,  Km7 – Luanda/Angola | Tel.: 940747200 | E-mail: itel.geral@gmail.com | www.itel.gov.ao</a:t>
              </a:r>
              <a:endParaRPr b="0" lang="pt-BR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03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D1E743F-9981-4808-9811-A4889ED61603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19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E30F7BA-85F3-48DC-96CE-63D12A827516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35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B7C8A21-39AC-4D56-AF8E-497F336F424C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49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6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7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8576625-6F46-48B3-AFCF-6638F2B30BB3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8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67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8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9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2D87959-4251-4C43-A6A7-11CE116280E9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10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82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6CC8BA3-9174-4656-9720-BE8366988825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290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4F31051-F631-49E9-B4A1-4B6173FBF627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301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D83EE79-DEA4-4957-9847-0E7BFF44C73B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313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PlaceHolder 5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526318F-8B12-4890-B64C-1318C7A3113B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PlaceHolder 6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327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1A28729-648D-430F-9B61-98B8BB557016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337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C3B177A-D7EC-4BC2-BB09-47B6A1D33FB7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3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tângulo 6"/>
          <p:cNvSpPr/>
          <p:nvPr/>
        </p:nvSpPr>
        <p:spPr>
          <a:xfrm>
            <a:off x="0" y="152640"/>
            <a:ext cx="12191040" cy="430920"/>
          </a:xfrm>
          <a:prstGeom prst="rect">
            <a:avLst/>
          </a:prstGeom>
          <a:solidFill>
            <a:srgbClr val="1268a5"/>
          </a:solidFill>
          <a:ln>
            <a:solidFill>
              <a:srgbClr val="1369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Elipse 7"/>
          <p:cNvSpPr/>
          <p:nvPr/>
        </p:nvSpPr>
        <p:spPr>
          <a:xfrm>
            <a:off x="767520" y="-27360"/>
            <a:ext cx="790920" cy="7909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4" name="Imagem 8" descr=""/>
          <p:cNvPicPr/>
          <p:nvPr/>
        </p:nvPicPr>
        <p:blipFill>
          <a:blip r:embed="rId2"/>
          <a:stretch/>
        </p:blipFill>
        <p:spPr>
          <a:xfrm>
            <a:off x="786600" y="55080"/>
            <a:ext cx="752760" cy="636480"/>
          </a:xfrm>
          <a:prstGeom prst="rect">
            <a:avLst/>
          </a:prstGeom>
          <a:ln w="0">
            <a:noFill/>
          </a:ln>
        </p:spPr>
      </p:pic>
      <p:sp>
        <p:nvSpPr>
          <p:cNvPr id="345" name="Retângulo 9"/>
          <p:cNvSpPr/>
          <p:nvPr/>
        </p:nvSpPr>
        <p:spPr>
          <a:xfrm>
            <a:off x="0" y="6541200"/>
            <a:ext cx="12191040" cy="250920"/>
          </a:xfrm>
          <a:prstGeom prst="rect">
            <a:avLst/>
          </a:prstGeom>
          <a:solidFill>
            <a:srgbClr val="1268a5"/>
          </a:solidFill>
          <a:ln>
            <a:solidFill>
              <a:srgbClr val="1268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CaixaDeTexto 10"/>
          <p:cNvSpPr/>
          <p:nvPr/>
        </p:nvSpPr>
        <p:spPr>
          <a:xfrm>
            <a:off x="0" y="6521040"/>
            <a:ext cx="121910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pt-BR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Instituto de Telecomunicações | Bairro dos CTTs,  Km7 – Luanda/Angola | Tel.: 940747200 | E-mail: itel.geral@gmail.com | www.itel.gov.ao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BR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15B4B76-7655-4CD0-8C8F-3A8E5DD9AE3E}" type="slidenum">
              <a:rPr b="0" lang="pt-BR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3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A2AE895-3673-4E46-9E34-96A79213EE58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3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32EF86F-8D16-4711-8677-91B060B0A3D0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3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77981C-5654-426C-8565-925C300A15D2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5" name="PlaceHolder 6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6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5" name="PlaceHolder 7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A86114D-66D5-42BC-B797-4D149FB2040D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6" name="PlaceHolder 8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26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8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PlaceHolder 9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1AD954F-7610-44AE-B2B4-4FCAC47B6837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10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3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F8A2737-87AB-49E1-880B-F899B8C2E062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3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A95D9DB-BE44-4B96-B340-7B30C01C628A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3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4" name="PlaceHolder 4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677024D-DEA1-4BDA-88FA-37F72E9F22D3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5" name="PlaceHolder 5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3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369FD8E-3705-45CD-B818-3D31589FF8BE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3" name="PlaceHolder 6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E0CB43E-D509-47BA-815C-34E0E1DF9993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3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3F9424-E81C-4E8D-951E-1A83FC2088B5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3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lnSpc>
                <a:spcPct val="100000"/>
              </a:lnSpc>
              <a:buNone/>
              <a:defRPr b="0" lang="pt-PT" sz="18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8BEB316-A4D9-454E-817A-83B50CDFD53E}" type="slidenum">
              <a:rPr b="0" lang="pt-PT" sz="1800" spc="-1" strike="noStrike">
                <a:solidFill>
                  <a:srgbClr val="000000"/>
                </a:solidFill>
                <a:latin typeface="Calibri"/>
              </a:rPr>
              <a:t>&lt;número&gt;</a:t>
            </a:fld>
            <a:endParaRPr b="0" lang="pt-BR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2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2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2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385200" y="2810160"/>
            <a:ext cx="6938280" cy="175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pt-PT" sz="3200" spc="-1" strike="noStrike">
                <a:solidFill>
                  <a:srgbClr val="1167a4"/>
                </a:solidFill>
                <a:latin typeface="Roboto Cn"/>
              </a:rPr>
              <a:t>UNIDADE X:PROGRAMABILIDADE - </a:t>
            </a:r>
            <a:r>
              <a:rPr b="0" lang="pt-PT" sz="3200" spc="-1" strike="noStrike">
                <a:solidFill>
                  <a:srgbClr val="0070c0"/>
                </a:solidFill>
                <a:latin typeface="Arial"/>
              </a:rPr>
              <a:t>CONSULTAS  AVANÇADAS E SUBCONSULTAS</a:t>
            </a:r>
            <a:r>
              <a:rPr b="0" lang="pt-PT" sz="3200" spc="-1" strike="noStrike">
                <a:solidFill>
                  <a:srgbClr val="0070c0"/>
                </a:solidFill>
                <a:latin typeface="Arial"/>
              </a:rPr>
              <a:t>	</a:t>
            </a:r>
            <a:br>
              <a:rPr sz="3200"/>
            </a:br>
            <a:br>
              <a:rPr sz="3200"/>
            </a:br>
            <a:endParaRPr b="0" lang="pt-BR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ítulo 1"/>
          <p:cNvSpPr/>
          <p:nvPr/>
        </p:nvSpPr>
        <p:spPr>
          <a:xfrm>
            <a:off x="316080" y="4664160"/>
            <a:ext cx="6938280" cy="17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</a:pPr>
            <a:r>
              <a:rPr b="0" lang="pt-PT" sz="2400" spc="-1" strike="noStrike">
                <a:solidFill>
                  <a:srgbClr val="0070c0"/>
                </a:solidFill>
                <a:latin typeface="Arial"/>
                <a:ea typeface="DejaVu Sans"/>
              </a:rPr>
              <a:t>Prof. Paulo Tumba</a:t>
            </a:r>
            <a:br>
              <a:rPr sz="3600"/>
            </a:br>
            <a:br>
              <a:rPr sz="2400"/>
            </a:b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Box 3"/>
          <p:cNvSpPr/>
          <p:nvPr/>
        </p:nvSpPr>
        <p:spPr>
          <a:xfrm>
            <a:off x="1206360" y="1164240"/>
            <a:ext cx="2387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1167a4"/>
                </a:solidFill>
                <a:latin typeface="Arial"/>
                <a:ea typeface="DejaVu Sans"/>
              </a:rPr>
              <a:t>ÍNDICE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9" name="Group 1"/>
          <p:cNvGrpSpPr/>
          <p:nvPr/>
        </p:nvGrpSpPr>
        <p:grpSpPr>
          <a:xfrm>
            <a:off x="826560" y="1800000"/>
            <a:ext cx="10693440" cy="4196880"/>
            <a:chOff x="826560" y="1800000"/>
            <a:chExt cx="10693440" cy="4196880"/>
          </a:xfrm>
        </p:grpSpPr>
        <p:sp>
          <p:nvSpPr>
            <p:cNvPr id="460" name="Rectangle 15"/>
            <p:cNvSpPr/>
            <p:nvPr/>
          </p:nvSpPr>
          <p:spPr>
            <a:xfrm>
              <a:off x="1289520" y="1800000"/>
              <a:ext cx="10230480" cy="419688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1" name="Rectangle 18"/>
            <p:cNvSpPr/>
            <p:nvPr/>
          </p:nvSpPr>
          <p:spPr>
            <a:xfrm>
              <a:off x="826560" y="1800000"/>
              <a:ext cx="334440" cy="410904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62" name="Título 1"/>
          <p:cNvSpPr/>
          <p:nvPr/>
        </p:nvSpPr>
        <p:spPr>
          <a:xfrm>
            <a:off x="1334160" y="1491840"/>
            <a:ext cx="10103040" cy="36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457200" algn="just">
              <a:lnSpc>
                <a:spcPct val="100000"/>
              </a:lnSpc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Consultas SQL;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Restrição- Where;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Operações Relacionais;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Operadores lógicos;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Restrição – WHERE;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Comparação valores nulos;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514440" indent="-51444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Clr>
                <a:srgbClr val="ffffff"/>
              </a:buClr>
              <a:buFont typeface="Calibri Light"/>
              <a:buAutoNum type="arabicPeriod"/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Comparação de strings;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1199"/>
              </a:spcAft>
            </a:pP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tângulo 1"/>
          <p:cNvSpPr/>
          <p:nvPr/>
        </p:nvSpPr>
        <p:spPr>
          <a:xfrm>
            <a:off x="1316160" y="475200"/>
            <a:ext cx="31482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4000" spc="-1" strike="noStrike">
                <a:solidFill>
                  <a:srgbClr val="1167a4"/>
                </a:solidFill>
                <a:latin typeface="Tw Cen MT Condensed Extra Bold"/>
                <a:ea typeface="DejaVu Sans"/>
              </a:rPr>
              <a:t>             </a:t>
            </a:r>
            <a:r>
              <a:rPr b="0" lang="en-US" sz="4000" spc="-1" strike="noStrike">
                <a:solidFill>
                  <a:srgbClr val="1167a4"/>
                </a:solidFill>
                <a:latin typeface="Arial"/>
                <a:ea typeface="DejaVu Sans"/>
              </a:rPr>
              <a:t>ÍNDICE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4" name="Group 1"/>
          <p:cNvGrpSpPr/>
          <p:nvPr/>
        </p:nvGrpSpPr>
        <p:grpSpPr>
          <a:xfrm>
            <a:off x="866520" y="1798560"/>
            <a:ext cx="10733400" cy="4464360"/>
            <a:chOff x="866520" y="1798560"/>
            <a:chExt cx="10733400" cy="4464360"/>
          </a:xfrm>
        </p:grpSpPr>
        <p:sp>
          <p:nvSpPr>
            <p:cNvPr id="465" name="Rectangle 15"/>
            <p:cNvSpPr/>
            <p:nvPr/>
          </p:nvSpPr>
          <p:spPr>
            <a:xfrm>
              <a:off x="1369440" y="1806480"/>
              <a:ext cx="10230480" cy="445644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6" name="Rectangle 18"/>
            <p:cNvSpPr/>
            <p:nvPr/>
          </p:nvSpPr>
          <p:spPr>
            <a:xfrm>
              <a:off x="866520" y="1798560"/>
              <a:ext cx="334440" cy="442476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67" name="Retângulo 7"/>
          <p:cNvSpPr/>
          <p:nvPr/>
        </p:nvSpPr>
        <p:spPr>
          <a:xfrm>
            <a:off x="1088640" y="1683720"/>
            <a:ext cx="10012320" cy="48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8. Wildcards;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9. Ordenação – ORDER BY;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10. Predicados;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11. Funções de agregação;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12. ALIAS - Pseudônimo;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13. Agrupamento – GROUP BY;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14.Consultas em várias tabelas;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tângulo 1"/>
          <p:cNvSpPr/>
          <p:nvPr/>
        </p:nvSpPr>
        <p:spPr>
          <a:xfrm>
            <a:off x="1316160" y="475200"/>
            <a:ext cx="31482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4000" spc="-1" strike="noStrike">
                <a:solidFill>
                  <a:srgbClr val="1167a4"/>
                </a:solidFill>
                <a:latin typeface="Tw Cen MT Condensed Extra Bold"/>
                <a:ea typeface="DejaVu Sans"/>
              </a:rPr>
              <a:t>             </a:t>
            </a:r>
            <a:r>
              <a:rPr b="0" lang="en-US" sz="4000" spc="-1" strike="noStrike">
                <a:solidFill>
                  <a:srgbClr val="1167a4"/>
                </a:solidFill>
                <a:latin typeface="Arial"/>
                <a:ea typeface="DejaVu Sans"/>
              </a:rPr>
              <a:t>ÍNDICE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9" name="Group 1"/>
          <p:cNvGrpSpPr/>
          <p:nvPr/>
        </p:nvGrpSpPr>
        <p:grpSpPr>
          <a:xfrm>
            <a:off x="866520" y="1798560"/>
            <a:ext cx="10733400" cy="4464360"/>
            <a:chOff x="866520" y="1798560"/>
            <a:chExt cx="10733400" cy="4464360"/>
          </a:xfrm>
        </p:grpSpPr>
        <p:sp>
          <p:nvSpPr>
            <p:cNvPr id="470" name="Rectangle 15"/>
            <p:cNvSpPr/>
            <p:nvPr/>
          </p:nvSpPr>
          <p:spPr>
            <a:xfrm>
              <a:off x="1369440" y="1806480"/>
              <a:ext cx="10230480" cy="445644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1" name="Rectangle 18"/>
            <p:cNvSpPr/>
            <p:nvPr/>
          </p:nvSpPr>
          <p:spPr>
            <a:xfrm>
              <a:off x="866520" y="1798560"/>
              <a:ext cx="334440" cy="442476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72" name="Retângulo 7"/>
          <p:cNvSpPr/>
          <p:nvPr/>
        </p:nvSpPr>
        <p:spPr>
          <a:xfrm>
            <a:off x="1089360" y="1798200"/>
            <a:ext cx="10012320" cy="359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15. Ambiguidade de campos;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16. Junções - JOINS;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17. Junção interna – INNER JOIN;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18. Junção externa– OUTER JOIN;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20. Subconsultas;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tângulo 1"/>
          <p:cNvSpPr/>
          <p:nvPr/>
        </p:nvSpPr>
        <p:spPr>
          <a:xfrm>
            <a:off x="1316160" y="475200"/>
            <a:ext cx="314820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US" sz="4000" spc="-1" strike="noStrike">
                <a:solidFill>
                  <a:srgbClr val="1167a4"/>
                </a:solidFill>
                <a:latin typeface="Tw Cen MT Condensed Extra Bold"/>
                <a:ea typeface="DejaVu Sans"/>
              </a:rPr>
              <a:t>             </a:t>
            </a:r>
            <a:r>
              <a:rPr b="0" lang="en-US" sz="4000" spc="-1" strike="noStrike">
                <a:solidFill>
                  <a:srgbClr val="1167a4"/>
                </a:solidFill>
                <a:latin typeface="Arial"/>
                <a:ea typeface="DejaVu Sans"/>
              </a:rPr>
              <a:t>ÍNDICE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4" name="Group 1"/>
          <p:cNvGrpSpPr/>
          <p:nvPr/>
        </p:nvGrpSpPr>
        <p:grpSpPr>
          <a:xfrm>
            <a:off x="866160" y="1798200"/>
            <a:ext cx="10733400" cy="4133520"/>
            <a:chOff x="866160" y="1798200"/>
            <a:chExt cx="10733400" cy="4133520"/>
          </a:xfrm>
        </p:grpSpPr>
        <p:sp>
          <p:nvSpPr>
            <p:cNvPr id="475" name="Rectangle 15"/>
            <p:cNvSpPr/>
            <p:nvPr/>
          </p:nvSpPr>
          <p:spPr>
            <a:xfrm>
              <a:off x="1369080" y="1805760"/>
              <a:ext cx="10230480" cy="412596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76" name="Rectangle 18"/>
            <p:cNvSpPr/>
            <p:nvPr/>
          </p:nvSpPr>
          <p:spPr>
            <a:xfrm>
              <a:off x="866160" y="1798200"/>
              <a:ext cx="334440" cy="4096800"/>
            </a:xfrm>
            <a:prstGeom prst="rect">
              <a:avLst/>
            </a:prstGeom>
            <a:solidFill>
              <a:srgbClr val="1167a4"/>
            </a:solidFill>
            <a:ln w="1905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77" name="Retângulo 7"/>
          <p:cNvSpPr/>
          <p:nvPr/>
        </p:nvSpPr>
        <p:spPr>
          <a:xfrm>
            <a:off x="1088640" y="1806480"/>
            <a:ext cx="1001232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      </a:t>
            </a: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21. Características;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22. Cláusulas IN e EXISTS;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23. Exemplo - IN;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24. Exemplo - EXISTS;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r>
              <a:rPr b="0" lang="pt-PT" sz="2000" spc="-1" strike="noStrike">
                <a:solidFill>
                  <a:srgbClr val="ffffff"/>
                </a:solidFill>
                <a:latin typeface="Arial"/>
                <a:ea typeface="DejaVu Sans"/>
              </a:rPr>
              <a:t>25. Exercícios;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457200" algn="just">
              <a:lnSpc>
                <a:spcPct val="2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>
            <a:alpha val="88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ubTitle"/>
          </p:nvPr>
        </p:nvSpPr>
        <p:spPr>
          <a:xfrm>
            <a:off x="1866240" y="132840"/>
            <a:ext cx="8695800" cy="58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Consultas SQL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Box 4"/>
          <p:cNvSpPr/>
          <p:nvPr/>
        </p:nvSpPr>
        <p:spPr>
          <a:xfrm>
            <a:off x="1746720" y="714240"/>
            <a:ext cx="922500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Em uma base de dados a operação de consulta/visualização de dados é feita através de um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único comando, SELECT.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À sintaxe básica poderão ser adicionadas diferentes cláusulas que permitem acrescer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mecanismos que permitem: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Restrição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Comparação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Ordenação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Agrupamento de dados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Junção de dados presentes em várias tabelas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 básica: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Tabelan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ubTitle"/>
          </p:nvPr>
        </p:nvSpPr>
        <p:spPr>
          <a:xfrm>
            <a:off x="864360" y="318600"/>
            <a:ext cx="99572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Restrição- Where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Box 4"/>
          <p:cNvSpPr/>
          <p:nvPr/>
        </p:nvSpPr>
        <p:spPr>
          <a:xfrm>
            <a:off x="1158840" y="919440"/>
            <a:ext cx="1046952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operação de restrição permite restringir o número de registos (linhas) a apresentar como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resultado de uma consulta à base de dados. Onde apenas se mostra algumas linhas que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contêm os dados pretendidos.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 necessário associar uma condição a cláusula SELECT.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..., Tabelan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[ WHERE condição ]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Onde a condição é uma expressão lógica que pode conter operadores ógicos e relacionais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subTitle"/>
          </p:nvPr>
        </p:nvSpPr>
        <p:spPr>
          <a:xfrm>
            <a:off x="1679040" y="361800"/>
            <a:ext cx="909684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22320" bIns="22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Operações Relacionais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3" name="Picture 1" descr=""/>
          <p:cNvPicPr/>
          <p:nvPr/>
        </p:nvPicPr>
        <p:blipFill>
          <a:blip r:embed="rId1"/>
          <a:stretch/>
        </p:blipFill>
        <p:spPr>
          <a:xfrm>
            <a:off x="1674000" y="1698480"/>
            <a:ext cx="8843040" cy="3789720"/>
          </a:xfrm>
          <a:prstGeom prst="rect">
            <a:avLst/>
          </a:prstGeom>
          <a:ln w="0">
            <a:noFill/>
          </a:ln>
        </p:spPr>
      </p:pic>
      <p:sp>
        <p:nvSpPr>
          <p:cNvPr id="484" name="Text Box 6"/>
          <p:cNvSpPr/>
          <p:nvPr/>
        </p:nvSpPr>
        <p:spPr>
          <a:xfrm>
            <a:off x="1322640" y="954360"/>
            <a:ext cx="39542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Operadores relacionais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ubTitle"/>
          </p:nvPr>
        </p:nvSpPr>
        <p:spPr>
          <a:xfrm>
            <a:off x="1553040" y="256320"/>
            <a:ext cx="932220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Operadores lógicos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Box 3"/>
          <p:cNvSpPr/>
          <p:nvPr/>
        </p:nvSpPr>
        <p:spPr>
          <a:xfrm>
            <a:off x="1812960" y="640800"/>
            <a:ext cx="880272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Os operadores lógicos funcionam com expressões que devolvam um valor lógico.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AND – As duas condições têm que ser satisfeitas.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OR – Apenas uma das condições tem que ser satisfeita.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NOT – Negação. É um operador unário.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7" name="Picture 4" descr=""/>
          <p:cNvPicPr/>
          <p:nvPr/>
        </p:nvPicPr>
        <p:blipFill>
          <a:blip r:embed="rId1"/>
          <a:stretch/>
        </p:blipFill>
        <p:spPr>
          <a:xfrm>
            <a:off x="2216880" y="3142080"/>
            <a:ext cx="7810560" cy="18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ubTitle"/>
          </p:nvPr>
        </p:nvSpPr>
        <p:spPr>
          <a:xfrm>
            <a:off x="1642680" y="0"/>
            <a:ext cx="10044720" cy="74160"/>
          </a:xfrm>
          <a:prstGeom prst="rect">
            <a:avLst/>
          </a:prstGeom>
          <a:noFill/>
          <a:ln w="0">
            <a:noFill/>
          </a:ln>
        </p:spPr>
        <p:txBody>
          <a:bodyPr lIns="0" rIns="0" tIns="37080" bIns="37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Restrição – WHERE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Box 1"/>
          <p:cNvSpPr/>
          <p:nvPr/>
        </p:nvSpPr>
        <p:spPr>
          <a:xfrm>
            <a:off x="2251800" y="1127160"/>
            <a:ext cx="795276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Exemplos: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Seleccionar todos os clientes maiores de 25 anos.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idade &gt; 25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Seleccionar todos os clientes maiores de 25 anos com ID igual a 1.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idade &gt; 25 AND id = 1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Problema: Seleccionar todos os clientes com ID entre 10 e 15?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ubTitle"/>
          </p:nvPr>
        </p:nvSpPr>
        <p:spPr>
          <a:xfrm>
            <a:off x="3290400" y="156960"/>
            <a:ext cx="5819400" cy="37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Comparação valores nulos</a:t>
            </a: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 nulos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Box 4"/>
          <p:cNvSpPr/>
          <p:nvPr/>
        </p:nvSpPr>
        <p:spPr>
          <a:xfrm>
            <a:off x="2064240" y="898560"/>
            <a:ext cx="861660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 valor NULL não é zero. É um indicador de inexistência de valor.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comparação com NULL tem que ser feita usando o operador IS.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..., Tabelan WHERE valor IS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[NOT] NULL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email IS NULL;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email IS NOT NULL;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ubTitle"/>
          </p:nvPr>
        </p:nvSpPr>
        <p:spPr>
          <a:xfrm>
            <a:off x="3726720" y="156960"/>
            <a:ext cx="536976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Comparação de strings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 Box 4"/>
          <p:cNvSpPr/>
          <p:nvPr/>
        </p:nvSpPr>
        <p:spPr>
          <a:xfrm>
            <a:off x="2262600" y="843840"/>
            <a:ext cx="856332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 operador LIKE é usada na comparação de strings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comparação de strings com operadores relacionais utiliza sempre a totalidade da string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Enquanto que o operador LIKE permite fazer comparações de partes da string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..., Tabelan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valor LIKE ‘valor’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pnome LIKE ‘Ana’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ubTitle"/>
          </p:nvPr>
        </p:nvSpPr>
        <p:spPr>
          <a:xfrm>
            <a:off x="3648600" y="185040"/>
            <a:ext cx="536976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Wildcards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Box 4"/>
          <p:cNvSpPr/>
          <p:nvPr/>
        </p:nvSpPr>
        <p:spPr>
          <a:xfrm>
            <a:off x="1760760" y="716760"/>
            <a:ext cx="91454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Wildcards são caracteres especiais que podem ser usados em comparações de strings 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formar padrões de pesquisa.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6" name="Picture 5" descr=""/>
          <p:cNvPicPr/>
          <p:nvPr/>
        </p:nvPicPr>
        <p:blipFill>
          <a:blip r:embed="rId1"/>
          <a:stretch/>
        </p:blipFill>
        <p:spPr>
          <a:xfrm>
            <a:off x="2849760" y="2334240"/>
            <a:ext cx="6578640" cy="1565640"/>
          </a:xfrm>
          <a:prstGeom prst="rect">
            <a:avLst/>
          </a:prstGeom>
          <a:ln w="0">
            <a:noFill/>
          </a:ln>
        </p:spPr>
      </p:pic>
      <p:sp>
        <p:nvSpPr>
          <p:cNvPr id="497" name="Text Box 6"/>
          <p:cNvSpPr/>
          <p:nvPr/>
        </p:nvSpPr>
        <p:spPr>
          <a:xfrm>
            <a:off x="2127960" y="4067640"/>
            <a:ext cx="793440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Selecionar apenas os clientes cujo nome começa com 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WHERE pnome LIKE 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ubTitle"/>
          </p:nvPr>
        </p:nvSpPr>
        <p:spPr>
          <a:xfrm>
            <a:off x="2522880" y="182880"/>
            <a:ext cx="6573600" cy="39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Ordenação – ORDER BY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 Box 4"/>
          <p:cNvSpPr/>
          <p:nvPr/>
        </p:nvSpPr>
        <p:spPr>
          <a:xfrm>
            <a:off x="1597680" y="751320"/>
            <a:ext cx="10005120" cy="51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Os dados presentes numa base de dados não são apresentados numa ordem particular, normalmente são apresentadas pela ordem na qual foram inseridos.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ordenação dos resultados é feita pela cláusula ORDER BY.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..., Tabelan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[WHERE condição]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ORDER BY Campo [ASC|DESC]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Onde: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ASC indica que a ordenação será ascendente e DESC descendente.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Por defeito, a ordenação é ascendente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ubTitle"/>
          </p:nvPr>
        </p:nvSpPr>
        <p:spPr>
          <a:xfrm>
            <a:off x="3727440" y="183600"/>
            <a:ext cx="536976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Ordenação – ORDER BY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1" name="Picture 3" descr=""/>
          <p:cNvPicPr/>
          <p:nvPr/>
        </p:nvPicPr>
        <p:blipFill>
          <a:blip r:embed="rId1"/>
          <a:stretch/>
        </p:blipFill>
        <p:spPr>
          <a:xfrm>
            <a:off x="1784880" y="2004120"/>
            <a:ext cx="9255240" cy="3059640"/>
          </a:xfrm>
          <a:prstGeom prst="rect">
            <a:avLst/>
          </a:prstGeom>
          <a:ln w="0">
            <a:noFill/>
          </a:ln>
        </p:spPr>
      </p:pic>
      <p:sp>
        <p:nvSpPr>
          <p:cNvPr id="502" name="Text Box 6"/>
          <p:cNvSpPr/>
          <p:nvPr/>
        </p:nvSpPr>
        <p:spPr>
          <a:xfrm>
            <a:off x="1854360" y="775440"/>
            <a:ext cx="8641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Seleccionar todos os clientes, ordenando o resultado por 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ORDER BY idade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ubTitle"/>
          </p:nvPr>
        </p:nvSpPr>
        <p:spPr>
          <a:xfrm>
            <a:off x="2522880" y="182880"/>
            <a:ext cx="6573600" cy="39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Ordenação – ORDER BY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Box 7"/>
          <p:cNvSpPr/>
          <p:nvPr/>
        </p:nvSpPr>
        <p:spPr>
          <a:xfrm>
            <a:off x="1785600" y="799560"/>
            <a:ext cx="900900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Seleccionar todos os clientes, ordenando o resultado por morada e 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ORDER BY 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5" name="Picture 1" descr=""/>
          <p:cNvPicPr/>
          <p:nvPr/>
        </p:nvPicPr>
        <p:blipFill>
          <a:blip r:embed="rId1"/>
          <a:stretch/>
        </p:blipFill>
        <p:spPr>
          <a:xfrm>
            <a:off x="1785600" y="2453760"/>
            <a:ext cx="9281520" cy="274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ubTitle"/>
          </p:nvPr>
        </p:nvSpPr>
        <p:spPr>
          <a:xfrm>
            <a:off x="3726720" y="156960"/>
            <a:ext cx="536976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Predicados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Text Box 3"/>
          <p:cNvSpPr/>
          <p:nvPr/>
        </p:nvSpPr>
        <p:spPr>
          <a:xfrm>
            <a:off x="1607760" y="912960"/>
            <a:ext cx="960768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 resolver algumas situações como: eliminação de dados duplicados, limite de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registos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apresentados, a linguagem SQL dispõe de alguns predicados que são associados a cláusula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Mostrar as 3 encomendas com maior valor.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encomendas ORDER BY valor DESC LIMIT 3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Mostrar as 5 ultimas encomendas que foram canceladas.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encomendas where estado = 0 ORDER BY id desc limit 5;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ubTitle"/>
          </p:nvPr>
        </p:nvSpPr>
        <p:spPr>
          <a:xfrm>
            <a:off x="2940840" y="130320"/>
            <a:ext cx="6216120" cy="45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Funções de agregação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Box 5"/>
          <p:cNvSpPr/>
          <p:nvPr/>
        </p:nvSpPr>
        <p:spPr>
          <a:xfrm>
            <a:off x="1659240" y="760680"/>
            <a:ext cx="90666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 funções de agregação retornam um único valor, calculado com base nos valores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presentes num campo.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0" name="Picture 6" descr=""/>
          <p:cNvPicPr/>
          <p:nvPr/>
        </p:nvPicPr>
        <p:blipFill>
          <a:blip r:embed="rId1"/>
          <a:stretch/>
        </p:blipFill>
        <p:spPr>
          <a:xfrm>
            <a:off x="2635200" y="1953720"/>
            <a:ext cx="7580160" cy="332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ubTitle"/>
          </p:nvPr>
        </p:nvSpPr>
        <p:spPr>
          <a:xfrm>
            <a:off x="2940840" y="130320"/>
            <a:ext cx="6216120" cy="45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Funções de agregação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Box 7"/>
          <p:cNvSpPr/>
          <p:nvPr/>
        </p:nvSpPr>
        <p:spPr>
          <a:xfrm>
            <a:off x="2112120" y="995760"/>
            <a:ext cx="79668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FUNÇÂO(Campo) FROM Tabela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Exemplo1: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Qual o preço mais alto existente na tabela de produtos?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MAX(preco) FROM produtos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Exemplo2: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Qual é o preço médio dos produtos?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AVG(preco) FROM produtos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ubTitle"/>
          </p:nvPr>
        </p:nvSpPr>
        <p:spPr>
          <a:xfrm>
            <a:off x="3726720" y="196560"/>
            <a:ext cx="536976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ALIAS - Pseudônimo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Box 1"/>
          <p:cNvSpPr/>
          <p:nvPr/>
        </p:nvSpPr>
        <p:spPr>
          <a:xfrm>
            <a:off x="1680840" y="899280"/>
            <a:ext cx="946152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 possível associar um nome temporário a um determinado campo (coluna) ou tabela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representada no resultado do comando SELECT.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Isto é feito através da cláusula 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Exemplo3: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Qual o preço mais baixo existente na tabela de produtos?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MIN(preco) AS MenorPreço FROM produtos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Problema1: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Quantos clientes tem a tabela cliente?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Problema2: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Qual o total da encomenda 1?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ubTitle"/>
          </p:nvPr>
        </p:nvSpPr>
        <p:spPr>
          <a:xfrm>
            <a:off x="2961000" y="-132840"/>
            <a:ext cx="6269040" cy="41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Agrupamento – GROUP BY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Box 5"/>
          <p:cNvSpPr/>
          <p:nvPr/>
        </p:nvSpPr>
        <p:spPr>
          <a:xfrm>
            <a:off x="1868040" y="613440"/>
            <a:ext cx="881352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 o tratamento de informação agrupada, SQL disponibiliza o comando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GROUP BY.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cláusula GROUP BY divide o resultado de um SELECT em grupos de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resultados.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1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Características: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Todos os atributos presentes no SELECT têm que estar presentes na cláusula GROUP BY;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Os registos são processados em grupos de características semelhantes;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Usa-se em conjunto com as funções de agregação.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SELECT Campo1, Campo2, ..., Campon FROM Tabela1, Tabela2,...,Tabelan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[WHERE condição][GROUP BY Campo1, Campo2,...,Campon]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ubTitle"/>
          </p:nvPr>
        </p:nvSpPr>
        <p:spPr>
          <a:xfrm>
            <a:off x="1530360" y="102960"/>
            <a:ext cx="7540920" cy="5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800" spc="-1" strike="noStrike">
                <a:solidFill>
                  <a:srgbClr val="ffffff"/>
                </a:solidFill>
                <a:latin typeface="Arial"/>
              </a:rPr>
              <a:t>          </a:t>
            </a: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Agrupamento – GROUP BY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Box 6"/>
          <p:cNvSpPr/>
          <p:nvPr/>
        </p:nvSpPr>
        <p:spPr>
          <a:xfrm>
            <a:off x="1894320" y="1203480"/>
            <a:ext cx="891936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Contar o número de Encomendas por estado.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estado, COUNT(id) FROM encomendas GROUP BY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estado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Problema: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Seleccionar todas as Encomendas agrupando por ID do cliente. SELECT 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ubTitle"/>
          </p:nvPr>
        </p:nvSpPr>
        <p:spPr>
          <a:xfrm>
            <a:off x="2947680" y="-172080"/>
            <a:ext cx="629568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200" spc="-1" strike="noStrike">
                <a:solidFill>
                  <a:srgbClr val="ffffff"/>
                </a:solidFill>
                <a:latin typeface="Arial"/>
              </a:rPr>
              <a:t>Consultas em várias tabelas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Box 1"/>
          <p:cNvSpPr/>
          <p:nvPr/>
        </p:nvSpPr>
        <p:spPr>
          <a:xfrm>
            <a:off x="1333440" y="887760"/>
            <a:ext cx="1024200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Em base de dados a ligação de tabelas permite extrair através de um único comando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dados contidos em várias tabelas distintas.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ligação entre tabelas é feita por meio de chaves estrangeiras e as respectivas chaves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primárias. Colocando-se na cláusula FROM o conjunto de tabelas que se pretende ligar.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Tabela2, ..., Tabelan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 necessário ainda fazer a ligação por meio de algum campo pelo qual as diferentes tabelas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estão relacionadas, i.e. Igualdade entre dois campos. Esta ligação é feita na cláusula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e chama-se equi-junção ( equi-join ).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ubTitle"/>
          </p:nvPr>
        </p:nvSpPr>
        <p:spPr>
          <a:xfrm>
            <a:off x="2234880" y="252360"/>
            <a:ext cx="8124120" cy="32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800" spc="-1" strike="noStrike">
                <a:solidFill>
                  <a:srgbClr val="ffffff"/>
                </a:solidFill>
                <a:latin typeface="Arial"/>
              </a:rPr>
              <a:t>Consultas em várias tabelas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Retângulo 16"/>
          <p:cNvSpPr/>
          <p:nvPr/>
        </p:nvSpPr>
        <p:spPr>
          <a:xfrm>
            <a:off x="4783680" y="3244320"/>
            <a:ext cx="2623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TwCenMT-Regular"/>
                <a:ea typeface="DejaVu Sans"/>
              </a:rPr>
              <a:t>Elementos de Formatação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Retângulo 17"/>
          <p:cNvSpPr/>
          <p:nvPr/>
        </p:nvSpPr>
        <p:spPr>
          <a:xfrm>
            <a:off x="4605840" y="3244320"/>
            <a:ext cx="297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TwCenMT-Regular"/>
                <a:ea typeface="DejaVu Sans"/>
              </a:rPr>
              <a:t>Elementos de Formatação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Box 3"/>
          <p:cNvSpPr/>
          <p:nvPr/>
        </p:nvSpPr>
        <p:spPr>
          <a:xfrm>
            <a:off x="1439640" y="937440"/>
            <a:ext cx="971388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Tabela1, Tabela2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Tabela1.chave_estrangeira = Tabela2.chave_primária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Caso não se coloque a cláusula WHERE obtém-se o produto cartesiano das tabelas, i.e,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associa cada linha presente numa tabela com o conjunto de linhas presentes nas outras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tabelas indicadas na cláusula FROM. Se executarmos a instrução: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clientes,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tabLst>
                <a:tab algn="l" pos="0"/>
              </a:tabLst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ubTitle"/>
          </p:nvPr>
        </p:nvSpPr>
        <p:spPr>
          <a:xfrm>
            <a:off x="2234880" y="252360"/>
            <a:ext cx="8124120" cy="32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800" spc="-1" strike="noStrike">
                <a:solidFill>
                  <a:srgbClr val="ffffff"/>
                </a:solidFill>
                <a:latin typeface="Arial"/>
              </a:rPr>
              <a:t>Consultas em várias tabelas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Retângulo 16"/>
          <p:cNvSpPr/>
          <p:nvPr/>
        </p:nvSpPr>
        <p:spPr>
          <a:xfrm>
            <a:off x="4783680" y="3244320"/>
            <a:ext cx="2623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TwCenMT-Regular"/>
                <a:ea typeface="DejaVu Sans"/>
              </a:rPr>
              <a:t>Elementos de Formatação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Retângulo 17"/>
          <p:cNvSpPr/>
          <p:nvPr/>
        </p:nvSpPr>
        <p:spPr>
          <a:xfrm>
            <a:off x="4605840" y="3244320"/>
            <a:ext cx="297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TwCenMT-Regular"/>
                <a:ea typeface="DejaVu Sans"/>
              </a:rPr>
              <a:t>Elementos de Formatação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Box 3"/>
          <p:cNvSpPr/>
          <p:nvPr/>
        </p:nvSpPr>
        <p:spPr>
          <a:xfrm>
            <a:off x="1261080" y="883440"/>
            <a:ext cx="1023012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 resultado será o produto cartesiano das duas tabelas. Onde o número total de registos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apresentados será Número de clientes x Número de encomendas. Pois, que para cada registo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presente na tabela cliente será associado a cada registo presente na tabela encomendas.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o que se pretende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saber as encomendas associadas a cada cliente. Nota- se que as duas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tabelas estão relacionadas através do campo ID do Cliente, então, deve-se colocar na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cláusula WHERE a condição de ligação.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clientes,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id = id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ubTitle"/>
          </p:nvPr>
        </p:nvSpPr>
        <p:spPr>
          <a:xfrm>
            <a:off x="1615680" y="171720"/>
            <a:ext cx="1044000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Ambiguidade de campos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Box 5"/>
          <p:cNvSpPr/>
          <p:nvPr/>
        </p:nvSpPr>
        <p:spPr>
          <a:xfrm>
            <a:off x="1359360" y="842040"/>
            <a:ext cx="997740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 comum existir em tabelas diferentes campos com o mesmo nome. E quando se junta dados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 várias tabelas, o SGBD não tem como saber a que campo a instrução se refere, criando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assim um erro de ambiguidade.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clientes,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id = id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 tratar a questão da ambiguidade deve-se: Distinguir os campos informando o nome da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clientes,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clientes.id = encomendas.id_cliente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ubTitle"/>
          </p:nvPr>
        </p:nvSpPr>
        <p:spPr>
          <a:xfrm>
            <a:off x="1578240" y="171720"/>
            <a:ext cx="10383120" cy="46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Retângulo 1"/>
          <p:cNvSpPr/>
          <p:nvPr/>
        </p:nvSpPr>
        <p:spPr>
          <a:xfrm>
            <a:off x="3943440" y="71280"/>
            <a:ext cx="37062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</a:pPr>
            <a:r>
              <a:rPr b="0" lang="pt-PT" sz="32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pt-PT" sz="3200" spc="-1" strike="noStrike">
                <a:solidFill>
                  <a:srgbClr val="ffffff"/>
                </a:solidFill>
                <a:latin typeface="Arial"/>
                <a:ea typeface="DejaVu Sans"/>
              </a:rPr>
              <a:t>Junções - JOINS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Box 6"/>
          <p:cNvSpPr/>
          <p:nvPr/>
        </p:nvSpPr>
        <p:spPr>
          <a:xfrm>
            <a:off x="1577880" y="831960"/>
            <a:ext cx="955512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Uma outra forma de se obter a ligação de tabelas é através das junções. Que podem ser internas ou externas.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Junção interna – são apresentados registos em que exista ligação entre as tabelas . I.e, faz a ligação entre duas tabelas considerando apenas dados em comum.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INNER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Junção externa – estende o conjunto de registos obtidos. I.e, faz a ligação entre tabelas considerando dados em comum e exclusivos também.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RIGHT OUTER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LEFT OUTER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ubTitle"/>
          </p:nvPr>
        </p:nvSpPr>
        <p:spPr>
          <a:xfrm>
            <a:off x="1481400" y="-253080"/>
            <a:ext cx="10458000" cy="72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Junção interna – INNER JOIN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Box 5"/>
          <p:cNvSpPr/>
          <p:nvPr/>
        </p:nvSpPr>
        <p:spPr>
          <a:xfrm>
            <a:off x="1952640" y="851400"/>
            <a:ext cx="888084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 INNER JOIN Tabela2 ON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Tabela1.chave_estrangeira = Tabela2.chave_primária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INNER JOIN encomendas ON clientes.id =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encomendas.id_cliente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Problema: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Seleccionar todas as encomendas feitas e seus respectivos detalhes.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SELECT...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ubTitle"/>
          </p:nvPr>
        </p:nvSpPr>
        <p:spPr>
          <a:xfrm>
            <a:off x="1710000" y="703080"/>
            <a:ext cx="992556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22320" bIns="22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Junção externa– OUTER JOIN</a:t>
            </a:r>
            <a:r>
              <a:rPr b="0" lang="pt-PT" sz="4000" spc="-1" strike="noStrike">
                <a:solidFill>
                  <a:srgbClr val="ffffff"/>
                </a:solidFill>
                <a:latin typeface="Century"/>
              </a:rPr>
              <a:t> 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Box 1"/>
          <p:cNvSpPr/>
          <p:nvPr/>
        </p:nvSpPr>
        <p:spPr>
          <a:xfrm>
            <a:off x="151308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Box 5"/>
          <p:cNvSpPr/>
          <p:nvPr/>
        </p:nvSpPr>
        <p:spPr>
          <a:xfrm>
            <a:off x="1710000" y="920880"/>
            <a:ext cx="9422280" cy="46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RIGHT JOIN ( junção à direita) – são considerados todos os registos da tabela à direita (da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cláusula) e apenas os registos correspondentes da tabela à esquerda.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 RIGHT JOIN Tabela2 ON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Tabela1.chave_estangeira = Tabela2.chave_primária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LEFT JOIN (junção à esquerda) - são considerados todos os registos da tabela à esquerda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(da cláusula) e apenas os registos correspondentes da tabela à direita.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Campo1, Campo2, ..., Campon FROM Tabela1 LEFT JOIN Tabela2 ON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Tabela1.chave_estangeira = Tabela2.chave_primária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ubTitle"/>
          </p:nvPr>
        </p:nvSpPr>
        <p:spPr>
          <a:xfrm>
            <a:off x="1710000" y="689760"/>
            <a:ext cx="992556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22320" bIns="22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Junção externa– OUTER JOIN</a:t>
            </a:r>
            <a:r>
              <a:rPr b="0" lang="pt-PT" sz="4000" spc="-1" strike="noStrike">
                <a:solidFill>
                  <a:srgbClr val="ffffff"/>
                </a:solidFill>
                <a:latin typeface="Century"/>
              </a:rPr>
              <a:t> 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Box 1"/>
          <p:cNvSpPr/>
          <p:nvPr/>
        </p:nvSpPr>
        <p:spPr>
          <a:xfrm>
            <a:off x="151308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Box 3"/>
          <p:cNvSpPr/>
          <p:nvPr/>
        </p:nvSpPr>
        <p:spPr>
          <a:xfrm>
            <a:off x="1045080" y="854640"/>
            <a:ext cx="105901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RIGHT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clientes RIGHT JOIN encomendas ON clientes.id =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encomendas.id_cliente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Considera-se todos os registos da tabela encomenda (tabela à direita) e as respectivas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correspondências na tabela cliente (tabela à esquerda). O resultado será igual ao INNER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JOIN pois, para cada ocorrência de encomendas existe uma correspondência de um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cliente, porque não existe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ubTitle"/>
          </p:nvPr>
        </p:nvSpPr>
        <p:spPr>
          <a:xfrm>
            <a:off x="1710000" y="689760"/>
            <a:ext cx="9925560" cy="44640"/>
          </a:xfrm>
          <a:prstGeom prst="rect">
            <a:avLst/>
          </a:prstGeom>
          <a:noFill/>
          <a:ln w="0">
            <a:noFill/>
          </a:ln>
        </p:spPr>
        <p:txBody>
          <a:bodyPr lIns="0" rIns="0" tIns="22320" bIns="22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4000" spc="-1" strike="noStrike">
                <a:solidFill>
                  <a:srgbClr val="ffffff"/>
                </a:solidFill>
                <a:latin typeface="Arial"/>
              </a:rPr>
              <a:t>Junção externa– OUTER JOIN</a:t>
            </a:r>
            <a:r>
              <a:rPr b="0" lang="pt-PT" sz="4000" spc="-1" strike="noStrike">
                <a:solidFill>
                  <a:srgbClr val="ffffff"/>
                </a:solidFill>
                <a:latin typeface="Century"/>
              </a:rPr>
              <a:t> 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Box 1"/>
          <p:cNvSpPr/>
          <p:nvPr/>
        </p:nvSpPr>
        <p:spPr>
          <a:xfrm>
            <a:off x="151308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Box 3"/>
          <p:cNvSpPr/>
          <p:nvPr/>
        </p:nvSpPr>
        <p:spPr>
          <a:xfrm>
            <a:off x="1243440" y="819000"/>
            <a:ext cx="103921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LEFT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* FROM Cliente LEFT JOIN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Encomenda ON clientes.id = encomendas.id_cliente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Considera-se todos os registos databela cliente (tabela à esquerda) e as respectivas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correspondências na tabela encomendas (tabela à direita). Se não existir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correspondências na tabela à direita os valores são preenchidos a NULL.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Subconsultas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Box 1"/>
          <p:cNvSpPr/>
          <p:nvPr/>
        </p:nvSpPr>
        <p:spPr>
          <a:xfrm>
            <a:off x="147564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Box 5"/>
          <p:cNvSpPr/>
          <p:nvPr/>
        </p:nvSpPr>
        <p:spPr>
          <a:xfrm>
            <a:off x="1682280" y="708120"/>
            <a:ext cx="882684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Subconsultas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Uma subconsulta ou subquery consiste nada mais do que uma instrução SQL dentro de outra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instrução SQL.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Também designadas por subinterrogações ou consultas aninhadas.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subconsulta pode ser colocada: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 comando SELECT associadas as cláusulas SELECT, FROM, WHERE;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Nos comandos INSERT, UPDATE e DELETE;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Dentro de outra subconsulta.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ubTitle"/>
          </p:nvPr>
        </p:nvSpPr>
        <p:spPr>
          <a:xfrm>
            <a:off x="1350000" y="24696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Características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Box 1"/>
          <p:cNvSpPr/>
          <p:nvPr/>
        </p:nvSpPr>
        <p:spPr>
          <a:xfrm>
            <a:off x="147564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etângulo 3"/>
          <p:cNvSpPr/>
          <p:nvPr/>
        </p:nvSpPr>
        <p:spPr>
          <a:xfrm>
            <a:off x="1350000" y="886320"/>
            <a:ext cx="103514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Características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1-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Existe uma consulta interior e outra exterior;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2-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 consulta interior deverá ser colocada entre parêntesis curvos ();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3-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As subconsultas podem devolver, como resultado, uma ou mais linhas e uma ou mais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colunas. Se devolver mais do que uma coluna estas têm que estar na mesma ordem 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colunas que aparecem na condição;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200000"/>
              </a:lnSpc>
              <a:tabLst>
                <a:tab algn="l" pos="0"/>
              </a:tabLst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4-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Múltiplos níveis de consultas.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Subconsultas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1"/>
          <p:cNvSpPr/>
          <p:nvPr/>
        </p:nvSpPr>
        <p:spPr>
          <a:xfrm>
            <a:off x="147564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Text Box 3"/>
          <p:cNvSpPr/>
          <p:nvPr/>
        </p:nvSpPr>
        <p:spPr>
          <a:xfrm>
            <a:off x="1622520" y="657360"/>
            <a:ext cx="89452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Exemplo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Tendo em conta a tabela seguinte. Seleccionar o ID da encomenda de valor mais baixo.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4" name="Picture 4" descr=""/>
          <p:cNvPicPr/>
          <p:nvPr/>
        </p:nvPicPr>
        <p:blipFill>
          <a:blip r:embed="rId1"/>
          <a:stretch/>
        </p:blipFill>
        <p:spPr>
          <a:xfrm>
            <a:off x="2094120" y="2252880"/>
            <a:ext cx="8210160" cy="3297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Subconsultas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Box 1"/>
          <p:cNvSpPr/>
          <p:nvPr/>
        </p:nvSpPr>
        <p:spPr>
          <a:xfrm>
            <a:off x="147564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Box 3"/>
          <p:cNvSpPr/>
          <p:nvPr/>
        </p:nvSpPr>
        <p:spPr>
          <a:xfrm>
            <a:off x="2374920" y="684000"/>
            <a:ext cx="8156880" cy="49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2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 problema com subconsultas resolve-se em dois passos: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1. Encontrar o valor mais baixo;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2. Encontrar a encomenda com valor mais baixo.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 a resolução do primeiro problema seria: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MIN(Valor) FROM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Para a resolução do segundo seria: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id FROM encomendas WHERE valor = 5000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2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Subconsultas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Box 1"/>
          <p:cNvSpPr/>
          <p:nvPr/>
        </p:nvSpPr>
        <p:spPr>
          <a:xfrm>
            <a:off x="1475640" y="198468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Text Box 3"/>
          <p:cNvSpPr/>
          <p:nvPr/>
        </p:nvSpPr>
        <p:spPr>
          <a:xfrm>
            <a:off x="1356840" y="816120"/>
            <a:ext cx="1031436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 o uso de subconsultas, pode-se resolver o mesmo problema com apenas uma única instrução SQL.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id FROM encomendas WHERE Valor = (SELECT MIN(valor)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FROM encomendas)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                          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1" name="Picture 4" descr=""/>
          <p:cNvPicPr/>
          <p:nvPr/>
        </p:nvPicPr>
        <p:blipFill>
          <a:blip r:embed="rId1"/>
          <a:stretch/>
        </p:blipFill>
        <p:spPr>
          <a:xfrm>
            <a:off x="4969440" y="3215520"/>
            <a:ext cx="2640600" cy="1338120"/>
          </a:xfrm>
          <a:prstGeom prst="rect">
            <a:avLst/>
          </a:prstGeom>
          <a:ln w="0">
            <a:noFill/>
          </a:ln>
        </p:spPr>
      </p:pic>
      <p:sp>
        <p:nvSpPr>
          <p:cNvPr id="562" name="Text Box 5"/>
          <p:cNvSpPr/>
          <p:nvPr/>
        </p:nvSpPr>
        <p:spPr>
          <a:xfrm>
            <a:off x="1685160" y="3198600"/>
            <a:ext cx="253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Resultado: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Cláusulas IN e EXISTS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Box 5"/>
          <p:cNvSpPr/>
          <p:nvPr/>
        </p:nvSpPr>
        <p:spPr>
          <a:xfrm>
            <a:off x="1380600" y="577800"/>
            <a:ext cx="999504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IN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- Permite verificar se um determinado valor existe no conjunto de resultados de uma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subconsulta.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Existe uma relação: Elemento pertence ao conjunto.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Pode-se usar em conjunto com a cláusula NOT.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Expressão [NOT] IN (Subconsulta)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EXISTS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- tem como objectivo verificar se a execução da subconsulta resultou ou não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alguma linha.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Pode ser usada em conjunto com a cláusula NOT.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É um operador Unário.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Sintaxe: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Consulta [NOT] EXISTS (Subconsulta)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Exemplo - IN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Box 1"/>
          <p:cNvSpPr/>
          <p:nvPr/>
        </p:nvSpPr>
        <p:spPr>
          <a:xfrm>
            <a:off x="1396080" y="864000"/>
            <a:ext cx="882900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Box 5"/>
          <p:cNvSpPr/>
          <p:nvPr/>
        </p:nvSpPr>
        <p:spPr>
          <a:xfrm>
            <a:off x="1381680" y="577800"/>
            <a:ext cx="94262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Tendo em conta as tabelas, Seleccionar os clientes (id e pnome) que têm as suas encomendas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em processamento.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8" name="Picture 6" descr=""/>
          <p:cNvPicPr/>
          <p:nvPr/>
        </p:nvPicPr>
        <p:blipFill>
          <a:blip r:embed="rId1"/>
          <a:stretch/>
        </p:blipFill>
        <p:spPr>
          <a:xfrm>
            <a:off x="2400840" y="1510560"/>
            <a:ext cx="7389720" cy="2955960"/>
          </a:xfrm>
          <a:prstGeom prst="rect">
            <a:avLst/>
          </a:prstGeom>
          <a:ln w="0">
            <a:noFill/>
          </a:ln>
        </p:spPr>
      </p:pic>
      <p:pic>
        <p:nvPicPr>
          <p:cNvPr id="569" name="Picture 7" descr=""/>
          <p:cNvPicPr/>
          <p:nvPr/>
        </p:nvPicPr>
        <p:blipFill>
          <a:blip r:embed="rId2"/>
          <a:stretch/>
        </p:blipFill>
        <p:spPr>
          <a:xfrm>
            <a:off x="4604400" y="4467960"/>
            <a:ext cx="6071400" cy="182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                        </a:t>
            </a: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Exemplo - IN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Box 1"/>
          <p:cNvSpPr/>
          <p:nvPr/>
        </p:nvSpPr>
        <p:spPr>
          <a:xfrm>
            <a:off x="1552320" y="2450880"/>
            <a:ext cx="8829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Tw Cen MT"/>
                <a:ea typeface="DejaVu Sans"/>
              </a:rPr>
              <a:t>Resultado: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Box 5"/>
          <p:cNvSpPr/>
          <p:nvPr/>
        </p:nvSpPr>
        <p:spPr>
          <a:xfrm>
            <a:off x="1370160" y="710640"/>
            <a:ext cx="983520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Resolução: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S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ELECT id, pnome FROM clientes WHERE id IN (SELECT id_cliente FROM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encomendas WHERE estado LIKE 'Em processamento')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3" name="Picture 8" descr=""/>
          <p:cNvPicPr/>
          <p:nvPr/>
        </p:nvPicPr>
        <p:blipFill>
          <a:blip r:embed="rId1"/>
          <a:stretch/>
        </p:blipFill>
        <p:spPr>
          <a:xfrm>
            <a:off x="3834000" y="2849760"/>
            <a:ext cx="4266000" cy="192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subTitle"/>
          </p:nvPr>
        </p:nvSpPr>
        <p:spPr>
          <a:xfrm>
            <a:off x="1685160" y="577800"/>
            <a:ext cx="10505880" cy="28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Exemplo - EXISTS  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Box 1"/>
          <p:cNvSpPr/>
          <p:nvPr/>
        </p:nvSpPr>
        <p:spPr>
          <a:xfrm>
            <a:off x="1554840" y="577800"/>
            <a:ext cx="8829000" cy="17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Tendo em conta as tabelas, seleccionar os clientes (ID e Nome) que não fizeram nenhuma encomenda.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6" name="Picture 7" descr=""/>
          <p:cNvPicPr/>
          <p:nvPr/>
        </p:nvPicPr>
        <p:blipFill>
          <a:blip r:embed="rId1"/>
          <a:stretch/>
        </p:blipFill>
        <p:spPr>
          <a:xfrm>
            <a:off x="2119680" y="1594440"/>
            <a:ext cx="6914880" cy="2859480"/>
          </a:xfrm>
          <a:prstGeom prst="rect">
            <a:avLst/>
          </a:prstGeom>
          <a:ln w="0">
            <a:noFill/>
          </a:ln>
        </p:spPr>
      </p:pic>
      <p:pic>
        <p:nvPicPr>
          <p:cNvPr id="577" name="Picture 8" descr=""/>
          <p:cNvPicPr/>
          <p:nvPr/>
        </p:nvPicPr>
        <p:blipFill>
          <a:blip r:embed="rId2"/>
          <a:stretch/>
        </p:blipFill>
        <p:spPr>
          <a:xfrm>
            <a:off x="4687560" y="4455000"/>
            <a:ext cx="6008400" cy="174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ubTitle"/>
          </p:nvPr>
        </p:nvSpPr>
        <p:spPr>
          <a:xfrm>
            <a:off x="1606680" y="0"/>
            <a:ext cx="10429560" cy="80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PT" sz="3800" spc="-1" strike="noStrike">
                <a:solidFill>
                  <a:srgbClr val="ffffff"/>
                </a:solidFill>
                <a:latin typeface="Arial"/>
              </a:rPr>
              <a:t>                    </a:t>
            </a:r>
            <a:r>
              <a:rPr b="0" lang="pt-PT" sz="3800" spc="-1" strike="noStrike">
                <a:solidFill>
                  <a:srgbClr val="ffffff"/>
                </a:solidFill>
                <a:latin typeface="Arial"/>
              </a:rPr>
              <a:t>Exemplo - EXISTS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Box 5"/>
          <p:cNvSpPr/>
          <p:nvPr/>
        </p:nvSpPr>
        <p:spPr>
          <a:xfrm>
            <a:off x="1606680" y="699120"/>
            <a:ext cx="104821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Resolução: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SELECT ID, Nome FROM Cliente WHERE NOT EXISTS (SELECT * FROM Encomendas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WHERE ID_Cliente = ID)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Box 6"/>
          <p:cNvSpPr/>
          <p:nvPr/>
        </p:nvSpPr>
        <p:spPr>
          <a:xfrm>
            <a:off x="1712520" y="2595960"/>
            <a:ext cx="253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Resultado: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1" name="Picture 7" descr=""/>
          <p:cNvPicPr/>
          <p:nvPr/>
        </p:nvPicPr>
        <p:blipFill>
          <a:blip r:embed="rId1"/>
          <a:stretch/>
        </p:blipFill>
        <p:spPr>
          <a:xfrm>
            <a:off x="4252680" y="3056400"/>
            <a:ext cx="4275720" cy="135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/>
          </p:cNvSpPr>
          <p:nvPr>
            <p:ph type="subTitle"/>
          </p:nvPr>
        </p:nvSpPr>
        <p:spPr>
          <a:xfrm>
            <a:off x="2574000" y="194040"/>
            <a:ext cx="8147880" cy="42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PT" sz="3600" spc="-1" strike="noStrike">
                <a:solidFill>
                  <a:srgbClr val="ffffff"/>
                </a:solidFill>
                <a:latin typeface="Arial"/>
              </a:rPr>
              <a:t>Exercícios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Box 1"/>
          <p:cNvSpPr/>
          <p:nvPr/>
        </p:nvSpPr>
        <p:spPr>
          <a:xfrm>
            <a:off x="1488960" y="879480"/>
            <a:ext cx="999180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1-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Selecionar o ID_Encomenda das encomendas feitas ao produto mais caro.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Use o operador IN para realizar a consulta.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2-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Selecionar o Nome do funcionário que processou a encomenda de valor mais elevado.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3-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Selecionar todos os fornecedores que não estão associados a nenhuma compra.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 –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Use o operador EXISTS para realizar a consulta.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  <a:ea typeface="DejaVu Sans"/>
              </a:rPr>
              <a:t>4-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Selecionar o subtotal das encomendas feitas a produtos pertencentes a mesma categoria que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o produto de ID_Produto = 7.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LibreOffice/24.2.7.2$Linux_X86_64 LibreOffice_project/420$Build-2</Application>
  <AppVersion>15.0000</AppVersion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2020-07-29T14:11:00Z</dcterms:created>
  <dc:creator>N´GOLA DIGITAL</dc:creator>
  <dc:description/>
  <dc:language>pt-BR</dc:language>
  <cp:lastModifiedBy/>
  <dcterms:modified xsi:type="dcterms:W3CDTF">2025-02-24T01:16:17Z</dcterms:modified>
  <cp:revision>12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  <property fmtid="{D5CDD505-2E9C-101B-9397-08002B2CF9AE}" pid="3" name="Notes">
    <vt:i4>2</vt:i4>
  </property>
  <property fmtid="{D5CDD505-2E9C-101B-9397-08002B2CF9AE}" pid="4" name="PresentationFormat">
    <vt:lpwstr>Widescreen</vt:lpwstr>
  </property>
  <property fmtid="{D5CDD505-2E9C-101B-9397-08002B2CF9AE}" pid="5" name="Slides">
    <vt:i4>43</vt:i4>
  </property>
</Properties>
</file>